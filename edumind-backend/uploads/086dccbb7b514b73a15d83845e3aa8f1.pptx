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  <p:embeddedFont>
      <p:font typeface="Glacial Indifference Italics" charset="1" panose="00000000000000000000"/>
      <p:regular r:id="rId17"/>
    </p:embeddedFont>
    <p:embeddedFont>
      <p:font typeface="Poppins" charset="1" panose="00000500000000000000"/>
      <p:regular r:id="rId18"/>
    </p:embeddedFont>
    <p:embeddedFont>
      <p:font typeface="Montserrat" charset="1" panose="00000500000000000000"/>
      <p:regular r:id="rId19"/>
    </p:embeddedFont>
    <p:embeddedFont>
      <p:font typeface="Montserrat Ultra-Bold" charset="1" panose="00000900000000000000"/>
      <p:regular r:id="rId20"/>
    </p:embeddedFont>
    <p:embeddedFont>
      <p:font typeface="Montserrat Bold" charset="1" panose="00000800000000000000"/>
      <p:regular r:id="rId21"/>
    </p:embeddedFont>
    <p:embeddedFont>
      <p:font typeface="Fira Sans" charset="1" panose="020B0503050000020004"/>
      <p:regular r:id="rId22"/>
    </p:embeddedFont>
    <p:embeddedFont>
      <p:font typeface="Fira Sans Ultra-Bold" charset="1" panose="020B0903050000020004"/>
      <p:regular r:id="rId23"/>
    </p:embeddedFont>
    <p:embeddedFont>
      <p:font typeface="Fira Sans Medium" charset="1" panose="020B0603050000020004"/>
      <p:regular r:id="rId24"/>
    </p:embeddedFont>
    <p:embeddedFont>
      <p:font typeface="Lato Heavy" charset="1" panose="020F05020202040302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2615" y="846089"/>
            <a:ext cx="5330134" cy="4476047"/>
          </a:xfrm>
          <a:custGeom>
            <a:avLst/>
            <a:gdLst/>
            <a:ahLst/>
            <a:cxnLst/>
            <a:rect r="r" b="b" t="t" l="l"/>
            <a:pathLst>
              <a:path h="4476047" w="5330134">
                <a:moveTo>
                  <a:pt x="0" y="0"/>
                </a:moveTo>
                <a:lnTo>
                  <a:pt x="5330133" y="0"/>
                </a:lnTo>
                <a:lnTo>
                  <a:pt x="5330133" y="4476047"/>
                </a:lnTo>
                <a:lnTo>
                  <a:pt x="0" y="4476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362708"/>
            <a:ext cx="13238306" cy="220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75"/>
              </a:lnSpc>
            </a:pPr>
            <a:r>
              <a:rPr lang="en-US" sz="63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Water Quality Anomaly Detection &amp; Health Risk Predictor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826936"/>
            <a:ext cx="13040571" cy="13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7"/>
              </a:lnSpc>
            </a:pPr>
            <a:r>
              <a:rPr lang="en-US" sz="3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Full Stack AI Platform with ML-Based Anomaly Detection and AI-Powered Health Risk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85803" y="8677910"/>
            <a:ext cx="17481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true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-By Faraz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4781" y="7167972"/>
            <a:ext cx="2157516" cy="1802482"/>
          </a:xfrm>
          <a:custGeom>
            <a:avLst/>
            <a:gdLst/>
            <a:ahLst/>
            <a:cxnLst/>
            <a:rect r="r" b="b" t="t" l="l"/>
            <a:pathLst>
              <a:path h="1802482" w="2157516">
                <a:moveTo>
                  <a:pt x="0" y="0"/>
                </a:moveTo>
                <a:lnTo>
                  <a:pt x="2157516" y="0"/>
                </a:lnTo>
                <a:lnTo>
                  <a:pt x="2157516" y="1802482"/>
                </a:lnTo>
                <a:lnTo>
                  <a:pt x="0" y="180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638" y="6478813"/>
            <a:ext cx="17448724" cy="3199850"/>
            <a:chOff x="0" y="0"/>
            <a:chExt cx="4595549" cy="842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5549" cy="842759"/>
            </a:xfrm>
            <a:custGeom>
              <a:avLst/>
              <a:gdLst/>
              <a:ahLst/>
              <a:cxnLst/>
              <a:rect r="r" b="b" t="t" l="l"/>
              <a:pathLst>
                <a:path h="842759" w="4595549">
                  <a:moveTo>
                    <a:pt x="0" y="0"/>
                  </a:moveTo>
                  <a:lnTo>
                    <a:pt x="4595549" y="0"/>
                  </a:lnTo>
                  <a:lnTo>
                    <a:pt x="4595549" y="842759"/>
                  </a:lnTo>
                  <a:lnTo>
                    <a:pt x="0" y="842759"/>
                  </a:lnTo>
                  <a:close/>
                </a:path>
              </a:pathLst>
            </a:custGeom>
            <a:solidFill>
              <a:srgbClr val="3D95C1">
                <a:alpha val="3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95549" cy="880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1345245" y="470468"/>
            <a:ext cx="15581316" cy="78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2"/>
              </a:lnSpc>
            </a:pPr>
            <a:r>
              <a:rPr lang="en-US" sz="463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Human Cost of Contaminated Water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39662" y="1799704"/>
            <a:ext cx="7572216" cy="55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Glob</a:t>
            </a:r>
            <a:r>
              <a:rPr lang="en-US" b="true" sz="3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Impact (WHO data)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494" y="2050702"/>
            <a:ext cx="7911335" cy="269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7"/>
              </a:lnSpc>
            </a:pPr>
            <a:r>
              <a:rPr lang="en-US" sz="1569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  <a:r>
              <a:rPr lang="en-US" b="true" sz="156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Billion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544" y="4802158"/>
            <a:ext cx="8917967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People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consuming water contaminated with biological waste.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9803" y="2050702"/>
            <a:ext cx="8244245" cy="269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7"/>
              </a:lnSpc>
            </a:pPr>
            <a:r>
              <a:rPr lang="en-US" sz="15698" b="true">
                <a:solidFill>
                  <a:srgbClr val="A44A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485,000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5528" y="4802158"/>
            <a:ext cx="8461655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Preventable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deaths annually from diarrhoeal diseases (cholera, typhoid, dysentery)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8122" y="6481097"/>
            <a:ext cx="634841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</a:t>
            </a: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Crisis in India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(NITI Aayog data)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1342" y="6790976"/>
            <a:ext cx="8517327" cy="213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1"/>
              </a:lnSpc>
            </a:pPr>
            <a:r>
              <a:rPr lang="en-US" sz="12443" b="true">
                <a:solidFill>
                  <a:srgbClr val="3D95C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37.7</a:t>
            </a:r>
            <a:r>
              <a:rPr lang="en-US" b="true" sz="12443">
                <a:solidFill>
                  <a:srgbClr val="3D95C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Million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0594" y="8913304"/>
            <a:ext cx="822829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People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affected by waterborne diseases annually.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12955" y="7101297"/>
            <a:ext cx="6067053" cy="222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Vulnerability: Chil</a:t>
            </a:r>
            <a:r>
              <a:rPr lang="en-US" sz="255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dren under five face the highest mortality risk, alongside severe long-term neurological risks from heavy metals like lead and arsenic.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221" y="1667766"/>
            <a:ext cx="2150709" cy="2836667"/>
          </a:xfrm>
          <a:custGeom>
            <a:avLst/>
            <a:gdLst/>
            <a:ahLst/>
            <a:cxnLst/>
            <a:rect r="r" b="b" t="t" l="l"/>
            <a:pathLst>
              <a:path h="2836667" w="2150709">
                <a:moveTo>
                  <a:pt x="0" y="0"/>
                </a:moveTo>
                <a:lnTo>
                  <a:pt x="2150709" y="0"/>
                </a:lnTo>
                <a:lnTo>
                  <a:pt x="2150709" y="2836668"/>
                </a:lnTo>
                <a:lnTo>
                  <a:pt x="0" y="283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1576" y="2114149"/>
            <a:ext cx="1172731" cy="1172731"/>
          </a:xfrm>
          <a:custGeom>
            <a:avLst/>
            <a:gdLst/>
            <a:ahLst/>
            <a:cxnLst/>
            <a:rect r="r" b="b" t="t" l="l"/>
            <a:pathLst>
              <a:path h="1172731" w="1172731">
                <a:moveTo>
                  <a:pt x="0" y="0"/>
                </a:moveTo>
                <a:lnTo>
                  <a:pt x="1172731" y="0"/>
                </a:lnTo>
                <a:lnTo>
                  <a:pt x="1172731" y="1172732"/>
                </a:lnTo>
                <a:lnTo>
                  <a:pt x="0" y="1172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90533" y="1363478"/>
            <a:ext cx="1902142" cy="3122919"/>
          </a:xfrm>
          <a:custGeom>
            <a:avLst/>
            <a:gdLst/>
            <a:ahLst/>
            <a:cxnLst/>
            <a:rect r="r" b="b" t="t" l="l"/>
            <a:pathLst>
              <a:path h="3122919" w="1902142">
                <a:moveTo>
                  <a:pt x="0" y="0"/>
                </a:moveTo>
                <a:lnTo>
                  <a:pt x="1902142" y="0"/>
                </a:lnTo>
                <a:lnTo>
                  <a:pt x="1902142" y="3122919"/>
                </a:lnTo>
                <a:lnTo>
                  <a:pt x="0" y="3122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196463">
            <a:off x="15201084" y="1851331"/>
            <a:ext cx="939148" cy="1070255"/>
          </a:xfrm>
          <a:custGeom>
            <a:avLst/>
            <a:gdLst/>
            <a:ahLst/>
            <a:cxnLst/>
            <a:rect r="r" b="b" t="t" l="l"/>
            <a:pathLst>
              <a:path h="1070255" w="939148">
                <a:moveTo>
                  <a:pt x="0" y="0"/>
                </a:moveTo>
                <a:lnTo>
                  <a:pt x="939148" y="0"/>
                </a:lnTo>
                <a:lnTo>
                  <a:pt x="939148" y="1070254"/>
                </a:lnTo>
                <a:lnTo>
                  <a:pt x="0" y="1070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82066" y="6935470"/>
            <a:ext cx="2370092" cy="1370965"/>
          </a:xfrm>
          <a:custGeom>
            <a:avLst/>
            <a:gdLst/>
            <a:ahLst/>
            <a:cxnLst/>
            <a:rect r="r" b="b" t="t" l="l"/>
            <a:pathLst>
              <a:path h="1370965" w="2370092">
                <a:moveTo>
                  <a:pt x="0" y="0"/>
                </a:moveTo>
                <a:lnTo>
                  <a:pt x="2370092" y="0"/>
                </a:lnTo>
                <a:lnTo>
                  <a:pt x="2370092" y="1370965"/>
                </a:lnTo>
                <a:lnTo>
                  <a:pt x="0" y="1370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91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54290" y="6082084"/>
            <a:ext cx="2802902" cy="2224351"/>
          </a:xfrm>
          <a:custGeom>
            <a:avLst/>
            <a:gdLst/>
            <a:ahLst/>
            <a:cxnLst/>
            <a:rect r="r" b="b" t="t" l="l"/>
            <a:pathLst>
              <a:path h="2224351" w="2802902">
                <a:moveTo>
                  <a:pt x="0" y="0"/>
                </a:moveTo>
                <a:lnTo>
                  <a:pt x="2802902" y="0"/>
                </a:lnTo>
                <a:lnTo>
                  <a:pt x="2802902" y="2224351"/>
                </a:lnTo>
                <a:lnTo>
                  <a:pt x="0" y="22243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621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390616" y="2427143"/>
            <a:ext cx="11576017" cy="1719476"/>
            <a:chOff x="0" y="0"/>
            <a:chExt cx="8585058" cy="12752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137"/>
              <a:ext cx="8425038" cy="1114932"/>
            </a:xfrm>
            <a:custGeom>
              <a:avLst/>
              <a:gdLst/>
              <a:ahLst/>
              <a:cxnLst/>
              <a:rect r="r" b="b" t="t" l="l"/>
              <a:pathLst>
                <a:path h="1114932" w="8425038">
                  <a:moveTo>
                    <a:pt x="8425038" y="1114932"/>
                  </a:moveTo>
                  <a:lnTo>
                    <a:pt x="0" y="1114932"/>
                  </a:lnTo>
                  <a:lnTo>
                    <a:pt x="0" y="0"/>
                  </a:lnTo>
                  <a:lnTo>
                    <a:pt x="8424911" y="0"/>
                  </a:lnTo>
                  <a:lnTo>
                    <a:pt x="8424911" y="1114932"/>
                  </a:lnTo>
                  <a:lnTo>
                    <a:pt x="8425038" y="1114932"/>
                  </a:lnTo>
                  <a:close/>
                </a:path>
              </a:pathLst>
            </a:custGeom>
            <a:solidFill>
              <a:srgbClr val="F7515A">
                <a:alpha val="4980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3660" y="73787"/>
              <a:ext cx="8437738" cy="1127759"/>
            </a:xfrm>
            <a:custGeom>
              <a:avLst/>
              <a:gdLst/>
              <a:ahLst/>
              <a:cxnLst/>
              <a:rect r="r" b="b" t="t" l="l"/>
              <a:pathLst>
                <a:path h="1127759" w="8437738">
                  <a:moveTo>
                    <a:pt x="8437738" y="1127759"/>
                  </a:moveTo>
                  <a:lnTo>
                    <a:pt x="0" y="1127759"/>
                  </a:lnTo>
                  <a:lnTo>
                    <a:pt x="0" y="0"/>
                  </a:lnTo>
                  <a:lnTo>
                    <a:pt x="8437611" y="0"/>
                  </a:lnTo>
                  <a:lnTo>
                    <a:pt x="8437611" y="1127759"/>
                  </a:lnTo>
                  <a:lnTo>
                    <a:pt x="8437738" y="1127759"/>
                  </a:lnTo>
                  <a:close/>
                  <a:moveTo>
                    <a:pt x="12700" y="1115059"/>
                  </a:moveTo>
                  <a:lnTo>
                    <a:pt x="8424911" y="1115059"/>
                  </a:lnTo>
                  <a:lnTo>
                    <a:pt x="8424911" y="12700"/>
                  </a:lnTo>
                  <a:lnTo>
                    <a:pt x="12700" y="12700"/>
                  </a:lnTo>
                  <a:lnTo>
                    <a:pt x="12700" y="1115059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8572358" cy="1262506"/>
            </a:xfrm>
            <a:custGeom>
              <a:avLst/>
              <a:gdLst/>
              <a:ahLst/>
              <a:cxnLst/>
              <a:rect r="r" b="b" t="t" l="l"/>
              <a:pathLst>
                <a:path h="1262506" w="8572358">
                  <a:moveTo>
                    <a:pt x="0" y="0"/>
                  </a:moveTo>
                  <a:lnTo>
                    <a:pt x="147447" y="0"/>
                  </a:lnTo>
                  <a:lnTo>
                    <a:pt x="147447" y="147447"/>
                  </a:lnTo>
                  <a:lnTo>
                    <a:pt x="0" y="147447"/>
                  </a:lnTo>
                  <a:lnTo>
                    <a:pt x="0" y="0"/>
                  </a:lnTo>
                  <a:close/>
                  <a:moveTo>
                    <a:pt x="8424911" y="0"/>
                  </a:moveTo>
                  <a:lnTo>
                    <a:pt x="8424911" y="147447"/>
                  </a:lnTo>
                  <a:lnTo>
                    <a:pt x="8572358" y="147447"/>
                  </a:lnTo>
                  <a:lnTo>
                    <a:pt x="8572358" y="0"/>
                  </a:lnTo>
                  <a:lnTo>
                    <a:pt x="8424911" y="0"/>
                  </a:lnTo>
                  <a:close/>
                  <a:moveTo>
                    <a:pt x="8424911" y="1262506"/>
                  </a:moveTo>
                  <a:lnTo>
                    <a:pt x="8572358" y="1262506"/>
                  </a:lnTo>
                  <a:lnTo>
                    <a:pt x="8572358" y="1115059"/>
                  </a:lnTo>
                  <a:lnTo>
                    <a:pt x="8424911" y="1115059"/>
                  </a:lnTo>
                  <a:lnTo>
                    <a:pt x="8424911" y="1262506"/>
                  </a:lnTo>
                  <a:close/>
                  <a:moveTo>
                    <a:pt x="0" y="1262506"/>
                  </a:moveTo>
                  <a:lnTo>
                    <a:pt x="147447" y="1262506"/>
                  </a:lnTo>
                  <a:lnTo>
                    <a:pt x="147447" y="1115059"/>
                  </a:lnTo>
                  <a:lnTo>
                    <a:pt x="0" y="1115059"/>
                  </a:lnTo>
                  <a:lnTo>
                    <a:pt x="0" y="1262506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85058" cy="1275206"/>
            </a:xfrm>
            <a:custGeom>
              <a:avLst/>
              <a:gdLst/>
              <a:ahLst/>
              <a:cxnLst/>
              <a:rect r="r" b="b" t="t" l="l"/>
              <a:pathLst>
                <a:path h="1275206" w="8585058">
                  <a:moveTo>
                    <a:pt x="0" y="160147"/>
                  </a:moveTo>
                  <a:lnTo>
                    <a:pt x="160147" y="160147"/>
                  </a:lnTo>
                  <a:lnTo>
                    <a:pt x="160147" y="0"/>
                  </a:lnTo>
                  <a:lnTo>
                    <a:pt x="0" y="0"/>
                  </a:lnTo>
                  <a:lnTo>
                    <a:pt x="0" y="160147"/>
                  </a:lnTo>
                  <a:close/>
                  <a:moveTo>
                    <a:pt x="12700" y="12700"/>
                  </a:moveTo>
                  <a:lnTo>
                    <a:pt x="147447" y="12700"/>
                  </a:lnTo>
                  <a:lnTo>
                    <a:pt x="147447" y="147447"/>
                  </a:lnTo>
                  <a:lnTo>
                    <a:pt x="12700" y="147447"/>
                  </a:lnTo>
                  <a:lnTo>
                    <a:pt x="12700" y="12700"/>
                  </a:lnTo>
                  <a:close/>
                  <a:moveTo>
                    <a:pt x="8424911" y="0"/>
                  </a:moveTo>
                  <a:lnTo>
                    <a:pt x="8424911" y="160147"/>
                  </a:lnTo>
                  <a:lnTo>
                    <a:pt x="8585058" y="160147"/>
                  </a:lnTo>
                  <a:lnTo>
                    <a:pt x="8585058" y="0"/>
                  </a:lnTo>
                  <a:lnTo>
                    <a:pt x="8424911" y="0"/>
                  </a:lnTo>
                  <a:close/>
                  <a:moveTo>
                    <a:pt x="8572359" y="147447"/>
                  </a:moveTo>
                  <a:lnTo>
                    <a:pt x="8437612" y="147447"/>
                  </a:lnTo>
                  <a:lnTo>
                    <a:pt x="8437612" y="12700"/>
                  </a:lnTo>
                  <a:lnTo>
                    <a:pt x="8572359" y="12700"/>
                  </a:lnTo>
                  <a:lnTo>
                    <a:pt x="8572359" y="147447"/>
                  </a:lnTo>
                  <a:close/>
                  <a:moveTo>
                    <a:pt x="8424911" y="1275206"/>
                  </a:moveTo>
                  <a:lnTo>
                    <a:pt x="8585058" y="1275206"/>
                  </a:lnTo>
                  <a:lnTo>
                    <a:pt x="8585058" y="1115059"/>
                  </a:lnTo>
                  <a:lnTo>
                    <a:pt x="8424911" y="1115059"/>
                  </a:lnTo>
                  <a:lnTo>
                    <a:pt x="8424911" y="1275206"/>
                  </a:lnTo>
                  <a:close/>
                  <a:moveTo>
                    <a:pt x="8437611" y="1127759"/>
                  </a:moveTo>
                  <a:lnTo>
                    <a:pt x="8572358" y="1127759"/>
                  </a:lnTo>
                  <a:lnTo>
                    <a:pt x="8572358" y="1262505"/>
                  </a:lnTo>
                  <a:lnTo>
                    <a:pt x="8437611" y="1262505"/>
                  </a:lnTo>
                  <a:lnTo>
                    <a:pt x="8437611" y="1127759"/>
                  </a:lnTo>
                  <a:close/>
                  <a:moveTo>
                    <a:pt x="0" y="1275206"/>
                  </a:moveTo>
                  <a:lnTo>
                    <a:pt x="160147" y="1275206"/>
                  </a:lnTo>
                  <a:lnTo>
                    <a:pt x="160147" y="1115059"/>
                  </a:lnTo>
                  <a:lnTo>
                    <a:pt x="0" y="1115059"/>
                  </a:lnTo>
                  <a:lnTo>
                    <a:pt x="0" y="1275206"/>
                  </a:lnTo>
                  <a:close/>
                  <a:moveTo>
                    <a:pt x="12700" y="1127759"/>
                  </a:moveTo>
                  <a:lnTo>
                    <a:pt x="147447" y="1127759"/>
                  </a:lnTo>
                  <a:lnTo>
                    <a:pt x="147447" y="1262505"/>
                  </a:lnTo>
                  <a:lnTo>
                    <a:pt x="12700" y="1262505"/>
                  </a:lnTo>
                  <a:lnTo>
                    <a:pt x="12700" y="1127759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</p:grpSp>
      <p:sp>
        <p:nvSpPr>
          <p:cNvPr name="AutoShape 13" id="13"/>
          <p:cNvSpPr/>
          <p:nvPr/>
        </p:nvSpPr>
        <p:spPr>
          <a:xfrm flipH="true">
            <a:off x="3433478" y="2211139"/>
            <a:ext cx="0" cy="2293779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899958" y="1947506"/>
            <a:ext cx="0" cy="2538891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23900" y="551504"/>
            <a:ext cx="11839932" cy="7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Reactive, Delayed, and Manual Paradigm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9193" y="4637405"/>
            <a:ext cx="2731423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amination Occurs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98513" y="2839212"/>
            <a:ext cx="9690973" cy="7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4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Critical Gap: Exposure Window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22288" y="4637405"/>
            <a:ext cx="10944345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the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time laboratory results return and authorities respond,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large populations have already been exposed.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81502" y="4663847"/>
            <a:ext cx="3120204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Lab Report Arrives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325" y="6238429"/>
            <a:ext cx="2161818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</a:t>
            </a: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Failures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037" y="8527415"/>
            <a:ext cx="5403157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Infrequent: Perio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dic sampling leaves long blind spots.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05766" y="8487410"/>
            <a:ext cx="5610405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Slow: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Results take days or weeks to process.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61201" y="8249285"/>
            <a:ext cx="5640603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active: Responses only occur after an outbreak has begun, rather than preventing 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67773" y="2250652"/>
            <a:ext cx="9808085" cy="7007648"/>
          </a:xfrm>
          <a:custGeom>
            <a:avLst/>
            <a:gdLst/>
            <a:ahLst/>
            <a:cxnLst/>
            <a:rect r="r" b="b" t="t" l="l"/>
            <a:pathLst>
              <a:path h="7007648" w="9808085">
                <a:moveTo>
                  <a:pt x="0" y="0"/>
                </a:moveTo>
                <a:lnTo>
                  <a:pt x="9808085" y="0"/>
                </a:lnTo>
                <a:lnTo>
                  <a:pt x="9808085" y="7007648"/>
                </a:lnTo>
                <a:lnTo>
                  <a:pt x="0" y="7007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5" t="0" r="-61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0238" y="729535"/>
            <a:ext cx="12527518" cy="90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b="true" sz="5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Intelligent, Software-Only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0238" y="2115186"/>
            <a:ext cx="3374588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</a:t>
            </a: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Concept: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288" y="2771140"/>
            <a:ext cx="6132552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full-stack web platform combining ML anomaly detection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AI health risk analysis to democratise water quality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4260" y="5228061"/>
            <a:ext cx="5746195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 Differentiator: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3787" y="5875655"/>
            <a:ext cx="7091136" cy="365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Achieves real-time monitoring, intelligent anomaly detection,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actionable guidance entirely through software—eliminating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dependency on physical IoT infrastructure and making it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accessible to resource-constrained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49700" y="11390259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69764" y="7133662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12983799" y="7898685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4103262" y="4015513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6538929" y="10018458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7597526" y="5643644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12983799" y="9874335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42307" y="7939897"/>
            <a:ext cx="1547862" cy="1526125"/>
            <a:chOff x="0" y="0"/>
            <a:chExt cx="812800" cy="8013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30936" y="6771082"/>
            <a:ext cx="1547862" cy="1526125"/>
            <a:chOff x="0" y="0"/>
            <a:chExt cx="812800" cy="8013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75805" y="5209661"/>
            <a:ext cx="1547862" cy="1526125"/>
            <a:chOff x="0" y="0"/>
            <a:chExt cx="812800" cy="8013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5400000">
            <a:off x="3215108" y="10475125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9761364" y="9360378"/>
            <a:ext cx="5331875" cy="1067957"/>
          </a:xfrm>
          <a:custGeom>
            <a:avLst/>
            <a:gdLst/>
            <a:ahLst/>
            <a:cxnLst/>
            <a:rect r="r" b="b" t="t" l="l"/>
            <a:pathLst>
              <a:path h="1067957" w="5331875">
                <a:moveTo>
                  <a:pt x="0" y="0"/>
                </a:moveTo>
                <a:lnTo>
                  <a:pt x="5331875" y="0"/>
                </a:lnTo>
                <a:lnTo>
                  <a:pt x="5331875" y="1067957"/>
                </a:lnTo>
                <a:lnTo>
                  <a:pt x="0" y="106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5107114" y="7422548"/>
            <a:ext cx="1547862" cy="1526125"/>
            <a:chOff x="0" y="0"/>
            <a:chExt cx="812800" cy="8013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3370" y="6149074"/>
            <a:ext cx="1547862" cy="1526125"/>
            <a:chOff x="0" y="0"/>
            <a:chExt cx="812800" cy="8013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050" y="0"/>
              <a:ext cx="800699" cy="800100"/>
            </a:xfrm>
            <a:custGeom>
              <a:avLst/>
              <a:gdLst/>
              <a:ahLst/>
              <a:cxnLst/>
              <a:rect r="r" b="b" t="t" l="l"/>
              <a:pathLst>
                <a:path h="800100" w="800699">
                  <a:moveTo>
                    <a:pt x="537510" y="24130"/>
                  </a:moveTo>
                  <a:lnTo>
                    <a:pt x="537510" y="24130"/>
                  </a:lnTo>
                  <a:cubicBezTo>
                    <a:pt x="581206" y="40096"/>
                    <a:pt x="621807" y="63510"/>
                    <a:pt x="657512" y="93334"/>
                  </a:cubicBezTo>
                  <a:lnTo>
                    <a:pt x="657525" y="93345"/>
                  </a:lnTo>
                  <a:cubicBezTo>
                    <a:pt x="693229" y="123169"/>
                    <a:pt x="723403" y="159047"/>
                    <a:pt x="746662" y="199336"/>
                  </a:cubicBezTo>
                  <a:lnTo>
                    <a:pt x="747492" y="200773"/>
                  </a:lnTo>
                  <a:cubicBezTo>
                    <a:pt x="770729" y="241024"/>
                    <a:pt x="786704" y="285049"/>
                    <a:pt x="794685" y="330835"/>
                  </a:cubicBezTo>
                  <a:lnTo>
                    <a:pt x="794685" y="330835"/>
                  </a:lnTo>
                  <a:cubicBezTo>
                    <a:pt x="802669" y="376636"/>
                    <a:pt x="802705" y="423470"/>
                    <a:pt x="794791" y="469283"/>
                  </a:cubicBezTo>
                  <a:lnTo>
                    <a:pt x="794632" y="470206"/>
                  </a:lnTo>
                  <a:cubicBezTo>
                    <a:pt x="786688" y="516197"/>
                    <a:pt x="770577" y="560395"/>
                    <a:pt x="747060" y="600710"/>
                  </a:cubicBezTo>
                  <a:lnTo>
                    <a:pt x="746936" y="600923"/>
                  </a:lnTo>
                  <a:cubicBezTo>
                    <a:pt x="723490" y="641115"/>
                    <a:pt x="693236" y="676925"/>
                    <a:pt x="657525" y="706755"/>
                  </a:cubicBezTo>
                  <a:lnTo>
                    <a:pt x="657512" y="706766"/>
                  </a:lnTo>
                  <a:cubicBezTo>
                    <a:pt x="621807" y="736590"/>
                    <a:pt x="581206" y="760004"/>
                    <a:pt x="537510" y="775970"/>
                  </a:cubicBezTo>
                  <a:lnTo>
                    <a:pt x="537510" y="775970"/>
                  </a:lnTo>
                  <a:cubicBezTo>
                    <a:pt x="493823" y="791933"/>
                    <a:pt x="447672" y="800100"/>
                    <a:pt x="401160" y="800100"/>
                  </a:cubicBezTo>
                  <a:lnTo>
                    <a:pt x="399540" y="800100"/>
                  </a:lnTo>
                  <a:cubicBezTo>
                    <a:pt x="353028" y="800100"/>
                    <a:pt x="306877" y="791933"/>
                    <a:pt x="263190" y="775970"/>
                  </a:cubicBezTo>
                  <a:lnTo>
                    <a:pt x="263190" y="775970"/>
                  </a:lnTo>
                  <a:cubicBezTo>
                    <a:pt x="219494" y="760004"/>
                    <a:pt x="178893" y="736590"/>
                    <a:pt x="143188" y="706766"/>
                  </a:cubicBezTo>
                  <a:lnTo>
                    <a:pt x="143175" y="706755"/>
                  </a:lnTo>
                  <a:cubicBezTo>
                    <a:pt x="107464" y="676925"/>
                    <a:pt x="77210" y="641115"/>
                    <a:pt x="53764" y="600923"/>
                  </a:cubicBezTo>
                  <a:lnTo>
                    <a:pt x="53640" y="600710"/>
                  </a:lnTo>
                  <a:cubicBezTo>
                    <a:pt x="30123" y="560395"/>
                    <a:pt x="14012" y="516197"/>
                    <a:pt x="6068" y="470206"/>
                  </a:cubicBezTo>
                  <a:lnTo>
                    <a:pt x="5909" y="469283"/>
                  </a:lnTo>
                  <a:cubicBezTo>
                    <a:pt x="-2005" y="423470"/>
                    <a:pt x="-1969" y="376636"/>
                    <a:pt x="6015" y="330835"/>
                  </a:cubicBezTo>
                  <a:lnTo>
                    <a:pt x="6015" y="330835"/>
                  </a:lnTo>
                  <a:cubicBezTo>
                    <a:pt x="13996" y="285049"/>
                    <a:pt x="29971" y="241024"/>
                    <a:pt x="53208" y="200773"/>
                  </a:cubicBezTo>
                  <a:lnTo>
                    <a:pt x="54038" y="199336"/>
                  </a:lnTo>
                  <a:cubicBezTo>
                    <a:pt x="77297" y="159047"/>
                    <a:pt x="107471" y="123169"/>
                    <a:pt x="143175" y="93345"/>
                  </a:cubicBezTo>
                  <a:lnTo>
                    <a:pt x="143188" y="93334"/>
                  </a:lnTo>
                  <a:cubicBezTo>
                    <a:pt x="178893" y="63510"/>
                    <a:pt x="219494" y="40096"/>
                    <a:pt x="263190" y="24130"/>
                  </a:cubicBezTo>
                  <a:lnTo>
                    <a:pt x="263190" y="24130"/>
                  </a:lnTo>
                  <a:cubicBezTo>
                    <a:pt x="306877" y="8167"/>
                    <a:pt x="353028" y="0"/>
                    <a:pt x="399540" y="0"/>
                  </a:cubicBezTo>
                  <a:lnTo>
                    <a:pt x="401160" y="0"/>
                  </a:lnTo>
                  <a:cubicBezTo>
                    <a:pt x="447672" y="0"/>
                    <a:pt x="493823" y="8167"/>
                    <a:pt x="537510" y="2413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2142" y="115968"/>
              <a:ext cx="568517" cy="56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4334571" y="6500689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820675" y="4862796"/>
            <a:ext cx="3092948" cy="0"/>
          </a:xfrm>
          <a:prstGeom prst="line">
            <a:avLst/>
          </a:prstGeom>
          <a:ln cap="rnd" w="19050">
            <a:solidFill>
              <a:srgbClr val="00BBDE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789543" y="8076264"/>
            <a:ext cx="1253391" cy="1253391"/>
          </a:xfrm>
          <a:custGeom>
            <a:avLst/>
            <a:gdLst/>
            <a:ahLst/>
            <a:cxnLst/>
            <a:rect r="r" b="b" t="t" l="l"/>
            <a:pathLst>
              <a:path h="1253391" w="1253391">
                <a:moveTo>
                  <a:pt x="0" y="0"/>
                </a:moveTo>
                <a:lnTo>
                  <a:pt x="1253390" y="0"/>
                </a:lnTo>
                <a:lnTo>
                  <a:pt x="1253390" y="1253391"/>
                </a:lnTo>
                <a:lnTo>
                  <a:pt x="0" y="1253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452223" y="7618043"/>
            <a:ext cx="857644" cy="1094442"/>
          </a:xfrm>
          <a:custGeom>
            <a:avLst/>
            <a:gdLst/>
            <a:ahLst/>
            <a:cxnLst/>
            <a:rect r="r" b="b" t="t" l="l"/>
            <a:pathLst>
              <a:path h="1094442" w="857644">
                <a:moveTo>
                  <a:pt x="0" y="0"/>
                </a:moveTo>
                <a:lnTo>
                  <a:pt x="857644" y="0"/>
                </a:lnTo>
                <a:lnTo>
                  <a:pt x="857644" y="1094442"/>
                </a:lnTo>
                <a:lnTo>
                  <a:pt x="0" y="10944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525602" y="6977370"/>
            <a:ext cx="1358529" cy="745956"/>
          </a:xfrm>
          <a:custGeom>
            <a:avLst/>
            <a:gdLst/>
            <a:ahLst/>
            <a:cxnLst/>
            <a:rect r="r" b="b" t="t" l="l"/>
            <a:pathLst>
              <a:path h="745956" w="1358529">
                <a:moveTo>
                  <a:pt x="0" y="0"/>
                </a:moveTo>
                <a:lnTo>
                  <a:pt x="1358529" y="0"/>
                </a:lnTo>
                <a:lnTo>
                  <a:pt x="1358529" y="745956"/>
                </a:lnTo>
                <a:lnTo>
                  <a:pt x="0" y="745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900834" y="6341324"/>
            <a:ext cx="1052934" cy="1052934"/>
          </a:xfrm>
          <a:custGeom>
            <a:avLst/>
            <a:gdLst/>
            <a:ahLst/>
            <a:cxnLst/>
            <a:rect r="r" b="b" t="t" l="l"/>
            <a:pathLst>
              <a:path h="1052934" w="1052934">
                <a:moveTo>
                  <a:pt x="0" y="0"/>
                </a:moveTo>
                <a:lnTo>
                  <a:pt x="1052935" y="0"/>
                </a:lnTo>
                <a:lnTo>
                  <a:pt x="1052935" y="1052934"/>
                </a:lnTo>
                <a:lnTo>
                  <a:pt x="0" y="10529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244106" y="5379928"/>
            <a:ext cx="811260" cy="1101711"/>
          </a:xfrm>
          <a:custGeom>
            <a:avLst/>
            <a:gdLst/>
            <a:ahLst/>
            <a:cxnLst/>
            <a:rect r="r" b="b" t="t" l="l"/>
            <a:pathLst>
              <a:path h="1101711" w="811260">
                <a:moveTo>
                  <a:pt x="0" y="0"/>
                </a:moveTo>
                <a:lnTo>
                  <a:pt x="811260" y="0"/>
                </a:lnTo>
                <a:lnTo>
                  <a:pt x="811260" y="1101711"/>
                </a:lnTo>
                <a:lnTo>
                  <a:pt x="0" y="1101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1107387"/>
            <a:ext cx="10951493" cy="78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3"/>
              </a:lnSpc>
              <a:spcBef>
                <a:spcPct val="0"/>
              </a:spcBef>
            </a:pPr>
            <a:r>
              <a:rPr lang="en-US" b="true" sz="5458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</a:t>
            </a:r>
            <a:r>
              <a:rPr lang="en-US" b="true" sz="5458" strike="noStrike" u="none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5458" strike="noStrike" u="none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Objectives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0617" y="7238437"/>
            <a:ext cx="3591243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Manua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l, CSV, 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and automated API synchronisation.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8814" y="6303224"/>
            <a:ext cx="288003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 1:</a:t>
            </a: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Multi-Source Ingestion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32674" y="4109786"/>
            <a:ext cx="3570351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Vi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sualisations, anomaly feeds, and automated alerts.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17008" y="3542439"/>
            <a:ext cx="38016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 5:</a:t>
            </a: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Real-Time Dashboard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20517" y="5721469"/>
            <a:ext cx="39211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0–100 c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omposite scor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ing based on WHO and BIS thresholds.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529244" y="5162036"/>
            <a:ext cx="32295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 3:</a:t>
            </a: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Risk Scoring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77041" y="6001599"/>
            <a:ext cx="28800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 2:</a:t>
            </a: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ML Detection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211859" y="6619402"/>
            <a:ext cx="3591243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Iso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ation Forest &amp; Z-score analysis across 8 parameters.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84111" y="4375716"/>
            <a:ext cx="32295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 4:</a:t>
            </a:r>
            <a:r>
              <a:rPr lang="en-US" b="true" sz="2000">
                <a:solidFill>
                  <a:srgbClr val="18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 Integration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503136" y="4961298"/>
            <a:ext cx="39211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Claud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e API for</a:t>
            </a:r>
            <a:r>
              <a:rPr lang="en-US" sz="17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 human-readable health risk assessments.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89840" y="2126737"/>
            <a:ext cx="6774402" cy="183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Five core</a:t>
            </a:r>
            <a:r>
              <a:rPr lang="en-US" sz="3500">
                <a:solidFill>
                  <a:srgbClr val="181A1A"/>
                </a:solidFill>
                <a:latin typeface="Canva Sans"/>
                <a:ea typeface="Canva Sans"/>
                <a:cs typeface="Canva Sans"/>
                <a:sym typeface="Canva Sans"/>
              </a:rPr>
              <a:t> capabilities that enable intelligent water quality monitoring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12551"/>
            <a:ext cx="1657421" cy="165742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80110" y="2412551"/>
            <a:ext cx="5660569" cy="1657421"/>
            <a:chOff x="0" y="0"/>
            <a:chExt cx="277594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8618" y="4845815"/>
            <a:ext cx="1657421" cy="16574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87AAD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8618" y="7274761"/>
            <a:ext cx="1657421" cy="16574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90028" y="4845815"/>
            <a:ext cx="5660569" cy="1657421"/>
            <a:chOff x="0" y="0"/>
            <a:chExt cx="2775945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90028" y="7274761"/>
            <a:ext cx="5660569" cy="1657421"/>
            <a:chOff x="0" y="0"/>
            <a:chExt cx="2775945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65902" y="2412551"/>
            <a:ext cx="1657421" cy="165742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17313" y="2412551"/>
            <a:ext cx="5660569" cy="1657421"/>
            <a:chOff x="0" y="0"/>
            <a:chExt cx="2775945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75820" y="4845815"/>
            <a:ext cx="1657421" cy="16574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87AADE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75820" y="7274761"/>
            <a:ext cx="1657421" cy="16574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27231" y="4845815"/>
            <a:ext cx="5660569" cy="1657421"/>
            <a:chOff x="0" y="0"/>
            <a:chExt cx="2775945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027231" y="7274761"/>
            <a:ext cx="5660569" cy="1657421"/>
            <a:chOff x="0" y="0"/>
            <a:chExt cx="2775945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227338" y="3057423"/>
            <a:ext cx="49859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eact 18, Vite, Tailwind CSS, Recharts.</a:t>
            </a:r>
          </a:p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Fast, component-based visualisation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76167" y="3057423"/>
            <a:ext cx="49859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Py</a:t>
            </a: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thon 3.11, FastAPI, scikit-learn</a:t>
            </a:r>
          </a:p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Async type-safe endpoints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27338" y="5490686"/>
            <a:ext cx="49859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ode.js 20, Express 4, node-cron</a:t>
            </a:r>
          </a:p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Lightweight orchestration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376167" y="5490686"/>
            <a:ext cx="498595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nthropic Claude API</a:t>
            </a:r>
          </a:p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Superior contextual health domain reasoning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95134" y="2872969"/>
            <a:ext cx="72455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9FB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77991" y="2872969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8193" y="5260590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58193" y="7689536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487909" y="5260590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7909" y="7689536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8618" y="443469"/>
            <a:ext cx="6721403" cy="147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3"/>
              </a:lnSpc>
            </a:pPr>
            <a:r>
              <a:rPr lang="en-US" b="true" sz="5399">
                <a:solidFill>
                  <a:srgbClr val="1C1C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M</a:t>
            </a:r>
            <a:r>
              <a:rPr lang="en-US" b="true" sz="5399">
                <a:solidFill>
                  <a:srgbClr val="1C1C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odern, Scalable Technology Stack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227338" y="2568472"/>
            <a:ext cx="4798475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</a:t>
            </a: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rontend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76167" y="2568472"/>
            <a:ext cx="4798475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ML Microservice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27338" y="5001736"/>
            <a:ext cx="4798475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Backend API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376167" y="5001736"/>
            <a:ext cx="4798475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AI An</a:t>
            </a: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alysis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227338" y="7923950"/>
            <a:ext cx="498595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ostgreSQL 15</a:t>
            </a:r>
          </a:p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ACID compliance, strong typing for scientific data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76167" y="7923950"/>
            <a:ext cx="49859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JWT, bcrypt</a:t>
            </a:r>
          </a:p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tateless, scalable authentication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227338" y="7434999"/>
            <a:ext cx="4798475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Database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76167" y="7434999"/>
            <a:ext cx="4798475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</a:t>
            </a:r>
            <a:r>
              <a:rPr lang="en-US" b="true" sz="24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ecurity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2234" y="4351400"/>
            <a:ext cx="19035358" cy="2104290"/>
          </a:xfrm>
          <a:custGeom>
            <a:avLst/>
            <a:gdLst/>
            <a:ahLst/>
            <a:cxnLst/>
            <a:rect r="r" b="b" t="t" l="l"/>
            <a:pathLst>
              <a:path h="2104290" w="19035358">
                <a:moveTo>
                  <a:pt x="0" y="0"/>
                </a:moveTo>
                <a:lnTo>
                  <a:pt x="19035358" y="0"/>
                </a:lnTo>
                <a:lnTo>
                  <a:pt x="19035358" y="2104290"/>
                </a:lnTo>
                <a:lnTo>
                  <a:pt x="0" y="2104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13985" y="4214594"/>
            <a:ext cx="923232" cy="923232"/>
            <a:chOff x="0" y="0"/>
            <a:chExt cx="1230976" cy="12309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30976" cy="123097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B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72684" y="72684"/>
              <a:ext cx="1085607" cy="108560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38100" cap="rnd">
                <a:solidFill>
                  <a:srgbClr val="D1D3D4"/>
                </a:solidFill>
                <a:prstDash val="dash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38432" y="238432"/>
              <a:ext cx="754112" cy="754112"/>
              <a:chOff x="0" y="0"/>
              <a:chExt cx="108388" cy="1083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388" cy="108388"/>
              </a:xfrm>
              <a:custGeom>
                <a:avLst/>
                <a:gdLst/>
                <a:ahLst/>
                <a:cxnLst/>
                <a:rect r="r" b="b" t="t" l="l"/>
                <a:pathLst>
                  <a:path h="108388" w="108388">
                    <a:moveTo>
                      <a:pt x="54194" y="0"/>
                    </a:moveTo>
                    <a:cubicBezTo>
                      <a:pt x="24263" y="0"/>
                      <a:pt x="0" y="24263"/>
                      <a:pt x="0" y="54194"/>
                    </a:cubicBezTo>
                    <a:cubicBezTo>
                      <a:pt x="0" y="84124"/>
                      <a:pt x="24263" y="108388"/>
                      <a:pt x="54194" y="108388"/>
                    </a:cubicBezTo>
                    <a:cubicBezTo>
                      <a:pt x="84124" y="108388"/>
                      <a:pt x="108388" y="84124"/>
                      <a:pt x="108388" y="54194"/>
                    </a:cubicBezTo>
                    <a:cubicBezTo>
                      <a:pt x="108388" y="24263"/>
                      <a:pt x="84124" y="0"/>
                      <a:pt x="54194" y="0"/>
                    </a:cubicBezTo>
                    <a:close/>
                  </a:path>
                </a:pathLst>
              </a:custGeom>
              <a:solidFill>
                <a:srgbClr val="F684C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1" y="-18414"/>
                <a:ext cx="88065" cy="116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8718568" y="4089809"/>
            <a:ext cx="923232" cy="923232"/>
            <a:chOff x="0" y="0"/>
            <a:chExt cx="1230976" cy="123097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230976" cy="123097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B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72684" y="72684"/>
              <a:ext cx="1085607" cy="1085607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38100" cap="rnd">
                <a:solidFill>
                  <a:srgbClr val="D1D3D4"/>
                </a:solidFill>
                <a:prstDash val="dash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38432" y="238432"/>
              <a:ext cx="754112" cy="754112"/>
              <a:chOff x="0" y="0"/>
              <a:chExt cx="108388" cy="10838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8388" cy="108388"/>
              </a:xfrm>
              <a:custGeom>
                <a:avLst/>
                <a:gdLst/>
                <a:ahLst/>
                <a:cxnLst/>
                <a:rect r="r" b="b" t="t" l="l"/>
                <a:pathLst>
                  <a:path h="108388" w="108388">
                    <a:moveTo>
                      <a:pt x="54194" y="0"/>
                    </a:moveTo>
                    <a:cubicBezTo>
                      <a:pt x="24263" y="0"/>
                      <a:pt x="0" y="24263"/>
                      <a:pt x="0" y="54194"/>
                    </a:cubicBezTo>
                    <a:cubicBezTo>
                      <a:pt x="0" y="84124"/>
                      <a:pt x="24263" y="108388"/>
                      <a:pt x="54194" y="108388"/>
                    </a:cubicBezTo>
                    <a:cubicBezTo>
                      <a:pt x="84124" y="108388"/>
                      <a:pt x="108388" y="84124"/>
                      <a:pt x="108388" y="54194"/>
                    </a:cubicBezTo>
                    <a:cubicBezTo>
                      <a:pt x="108388" y="24263"/>
                      <a:pt x="84124" y="0"/>
                      <a:pt x="54194" y="0"/>
                    </a:cubicBezTo>
                    <a:close/>
                  </a:path>
                </a:pathLst>
              </a:custGeom>
              <a:solidFill>
                <a:srgbClr val="FFDA68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1" y="-18414"/>
                <a:ext cx="88065" cy="116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3419573" y="4108859"/>
            <a:ext cx="923232" cy="923232"/>
            <a:chOff x="0" y="0"/>
            <a:chExt cx="1230976" cy="123097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230976" cy="1230976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B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2684" y="72684"/>
              <a:ext cx="1085607" cy="1085607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38100" cap="rnd">
                <a:solidFill>
                  <a:srgbClr val="D1D3D4"/>
                </a:solidFill>
                <a:prstDash val="dash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8432" y="238432"/>
              <a:ext cx="754112" cy="754112"/>
              <a:chOff x="0" y="0"/>
              <a:chExt cx="108388" cy="10838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8388" cy="108388"/>
              </a:xfrm>
              <a:custGeom>
                <a:avLst/>
                <a:gdLst/>
                <a:ahLst/>
                <a:cxnLst/>
                <a:rect r="r" b="b" t="t" l="l"/>
                <a:pathLst>
                  <a:path h="108388" w="108388">
                    <a:moveTo>
                      <a:pt x="54194" y="0"/>
                    </a:moveTo>
                    <a:cubicBezTo>
                      <a:pt x="24263" y="0"/>
                      <a:pt x="0" y="24263"/>
                      <a:pt x="0" y="54194"/>
                    </a:cubicBezTo>
                    <a:cubicBezTo>
                      <a:pt x="0" y="84124"/>
                      <a:pt x="24263" y="108388"/>
                      <a:pt x="54194" y="108388"/>
                    </a:cubicBezTo>
                    <a:cubicBezTo>
                      <a:pt x="84124" y="108388"/>
                      <a:pt x="108388" y="84124"/>
                      <a:pt x="108388" y="54194"/>
                    </a:cubicBezTo>
                    <a:cubicBezTo>
                      <a:pt x="108388" y="24263"/>
                      <a:pt x="84124" y="0"/>
                      <a:pt x="54194" y="0"/>
                    </a:cubicBezTo>
                    <a:close/>
                  </a:path>
                </a:pathLst>
              </a:custGeom>
              <a:solidFill>
                <a:srgbClr val="89E2E8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1" y="-18414"/>
                <a:ext cx="88065" cy="116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1503038" y="5684858"/>
            <a:ext cx="923232" cy="923232"/>
            <a:chOff x="0" y="0"/>
            <a:chExt cx="1230976" cy="123097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230976" cy="1230976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B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72684" y="72684"/>
              <a:ext cx="1085607" cy="1085607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38100" cap="rnd">
                <a:solidFill>
                  <a:srgbClr val="D1D3D4"/>
                </a:solidFill>
                <a:prstDash val="dash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38432" y="238432"/>
              <a:ext cx="754112" cy="754112"/>
              <a:chOff x="0" y="0"/>
              <a:chExt cx="108388" cy="10838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8388" cy="108388"/>
              </a:xfrm>
              <a:custGeom>
                <a:avLst/>
                <a:gdLst/>
                <a:ahLst/>
                <a:cxnLst/>
                <a:rect r="r" b="b" t="t" l="l"/>
                <a:pathLst>
                  <a:path h="108388" w="108388">
                    <a:moveTo>
                      <a:pt x="54194" y="0"/>
                    </a:moveTo>
                    <a:cubicBezTo>
                      <a:pt x="24263" y="0"/>
                      <a:pt x="0" y="24263"/>
                      <a:pt x="0" y="54194"/>
                    </a:cubicBezTo>
                    <a:cubicBezTo>
                      <a:pt x="0" y="84124"/>
                      <a:pt x="24263" y="108388"/>
                      <a:pt x="54194" y="108388"/>
                    </a:cubicBezTo>
                    <a:cubicBezTo>
                      <a:pt x="84124" y="108388"/>
                      <a:pt x="108388" y="84124"/>
                      <a:pt x="108388" y="54194"/>
                    </a:cubicBezTo>
                    <a:cubicBezTo>
                      <a:pt x="108388" y="24263"/>
                      <a:pt x="84124" y="0"/>
                      <a:pt x="54194" y="0"/>
                    </a:cubicBezTo>
                    <a:close/>
                  </a:path>
                </a:pathLst>
              </a:custGeom>
              <a:solidFill>
                <a:srgbClr val="BC9FF1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1" y="-18414"/>
                <a:ext cx="88065" cy="116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6236196" y="5656283"/>
            <a:ext cx="923232" cy="923232"/>
            <a:chOff x="0" y="0"/>
            <a:chExt cx="1230976" cy="1230976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230976" cy="1230976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B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72684" y="72684"/>
              <a:ext cx="1085607" cy="1085607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38100" cap="rnd">
                <a:solidFill>
                  <a:srgbClr val="D1D3D4"/>
                </a:solidFill>
                <a:prstDash val="dash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238432" y="238432"/>
              <a:ext cx="754112" cy="754112"/>
              <a:chOff x="0" y="0"/>
              <a:chExt cx="108388" cy="108388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08388" cy="108388"/>
              </a:xfrm>
              <a:custGeom>
                <a:avLst/>
                <a:gdLst/>
                <a:ahLst/>
                <a:cxnLst/>
                <a:rect r="r" b="b" t="t" l="l"/>
                <a:pathLst>
                  <a:path h="108388" w="108388">
                    <a:moveTo>
                      <a:pt x="54194" y="0"/>
                    </a:moveTo>
                    <a:cubicBezTo>
                      <a:pt x="24263" y="0"/>
                      <a:pt x="0" y="24263"/>
                      <a:pt x="0" y="54194"/>
                    </a:cubicBezTo>
                    <a:cubicBezTo>
                      <a:pt x="0" y="84124"/>
                      <a:pt x="24263" y="108388"/>
                      <a:pt x="54194" y="108388"/>
                    </a:cubicBezTo>
                    <a:cubicBezTo>
                      <a:pt x="84124" y="108388"/>
                      <a:pt x="108388" y="84124"/>
                      <a:pt x="108388" y="54194"/>
                    </a:cubicBezTo>
                    <a:cubicBezTo>
                      <a:pt x="108388" y="24263"/>
                      <a:pt x="84124" y="0"/>
                      <a:pt x="54194" y="0"/>
                    </a:cubicBezTo>
                    <a:close/>
                  </a:path>
                </a:pathLst>
              </a:custGeom>
              <a:solidFill>
                <a:srgbClr val="F1A584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10161" y="-18414"/>
                <a:ext cx="88065" cy="116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10988478" y="5656283"/>
            <a:ext cx="923232" cy="923232"/>
            <a:chOff x="0" y="0"/>
            <a:chExt cx="1230976" cy="1230976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1230976" cy="1230976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BFF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72684" y="72684"/>
              <a:ext cx="1085607" cy="1085607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38100" cap="rnd">
                <a:solidFill>
                  <a:srgbClr val="D1D3D4"/>
                </a:solidFill>
                <a:prstDash val="dash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238432" y="238432"/>
              <a:ext cx="754112" cy="754112"/>
              <a:chOff x="0" y="0"/>
              <a:chExt cx="108388" cy="108388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08388" cy="108388"/>
              </a:xfrm>
              <a:custGeom>
                <a:avLst/>
                <a:gdLst/>
                <a:ahLst/>
                <a:cxnLst/>
                <a:rect r="r" b="b" t="t" l="l"/>
                <a:pathLst>
                  <a:path h="108388" w="108388">
                    <a:moveTo>
                      <a:pt x="54194" y="0"/>
                    </a:moveTo>
                    <a:cubicBezTo>
                      <a:pt x="24263" y="0"/>
                      <a:pt x="0" y="24263"/>
                      <a:pt x="0" y="54194"/>
                    </a:cubicBezTo>
                    <a:cubicBezTo>
                      <a:pt x="0" y="84124"/>
                      <a:pt x="24263" y="108388"/>
                      <a:pt x="54194" y="108388"/>
                    </a:cubicBezTo>
                    <a:cubicBezTo>
                      <a:pt x="84124" y="108388"/>
                      <a:pt x="108388" y="84124"/>
                      <a:pt x="108388" y="54194"/>
                    </a:cubicBezTo>
                    <a:cubicBezTo>
                      <a:pt x="108388" y="24263"/>
                      <a:pt x="84124" y="0"/>
                      <a:pt x="54194" y="0"/>
                    </a:cubicBezTo>
                    <a:close/>
                  </a:path>
                </a:pathLst>
              </a:custGeom>
              <a:solidFill>
                <a:srgbClr val="95CD4D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0161" y="-18414"/>
                <a:ext cx="88065" cy="116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grpSp>
        <p:nvGrpSpPr>
          <p:cNvPr name="Group 63" id="63"/>
          <p:cNvGrpSpPr/>
          <p:nvPr/>
        </p:nvGrpSpPr>
        <p:grpSpPr>
          <a:xfrm rot="0">
            <a:off x="15740761" y="5703908"/>
            <a:ext cx="923232" cy="923232"/>
            <a:chOff x="0" y="0"/>
            <a:chExt cx="1230976" cy="1230976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1230976" cy="1230976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BFF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72684" y="72684"/>
              <a:ext cx="1085607" cy="1085607"/>
              <a:chOff x="0" y="0"/>
              <a:chExt cx="812800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38100" cap="rnd">
                <a:solidFill>
                  <a:srgbClr val="D1D3D4"/>
                </a:solidFill>
                <a:prstDash val="dash"/>
                <a:round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238432" y="238432"/>
              <a:ext cx="754112" cy="754112"/>
              <a:chOff x="0" y="0"/>
              <a:chExt cx="108388" cy="108388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08388" cy="108388"/>
              </a:xfrm>
              <a:custGeom>
                <a:avLst/>
                <a:gdLst/>
                <a:ahLst/>
                <a:cxnLst/>
                <a:rect r="r" b="b" t="t" l="l"/>
                <a:pathLst>
                  <a:path h="108388" w="108388">
                    <a:moveTo>
                      <a:pt x="54194" y="0"/>
                    </a:moveTo>
                    <a:cubicBezTo>
                      <a:pt x="24263" y="0"/>
                      <a:pt x="0" y="24263"/>
                      <a:pt x="0" y="54194"/>
                    </a:cubicBezTo>
                    <a:cubicBezTo>
                      <a:pt x="0" y="84124"/>
                      <a:pt x="24263" y="108388"/>
                      <a:pt x="54194" y="108388"/>
                    </a:cubicBezTo>
                    <a:cubicBezTo>
                      <a:pt x="84124" y="108388"/>
                      <a:pt x="108388" y="84124"/>
                      <a:pt x="108388" y="54194"/>
                    </a:cubicBezTo>
                    <a:cubicBezTo>
                      <a:pt x="108388" y="24263"/>
                      <a:pt x="84124" y="0"/>
                      <a:pt x="54194" y="0"/>
                    </a:cubicBezTo>
                    <a:close/>
                  </a:path>
                </a:pathLst>
              </a:custGeom>
              <a:solidFill>
                <a:srgbClr val="92AAEF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10161" y="-18414"/>
                <a:ext cx="88065" cy="116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sp>
        <p:nvSpPr>
          <p:cNvPr name="TextBox 73" id="73"/>
          <p:cNvSpPr txBox="true"/>
          <p:nvPr/>
        </p:nvSpPr>
        <p:spPr>
          <a:xfrm rot="0">
            <a:off x="3253919" y="2616101"/>
            <a:ext cx="2476500" cy="7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Back</a:t>
            </a: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end validates and maps data to the Postgres schema.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237351" y="2063651"/>
            <a:ext cx="2509636" cy="30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7"/>
              </a:lnSpc>
              <a:spcBef>
                <a:spcPct val="0"/>
              </a:spcBef>
            </a:pP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Normal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sat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26404" y="7893560"/>
            <a:ext cx="2476500" cy="52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ata enters via form, CSV, or cron job.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09836" y="7272546"/>
            <a:ext cx="2509636" cy="30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7"/>
              </a:lnSpc>
            </a:pP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</a:t>
            </a: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ngestion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917195" y="2556533"/>
            <a:ext cx="2476500" cy="7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nomalies recorded; alert engine triggered if thresholds are breached.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900627" y="2063651"/>
            <a:ext cx="2509636" cy="30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7"/>
              </a:lnSpc>
              <a:spcBef>
                <a:spcPct val="0"/>
              </a:spcBef>
            </a:pP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Fl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gg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459562" y="7893560"/>
            <a:ext cx="2476500" cy="7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Pyt</a:t>
            </a: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hon service calculates Isolation Forest anomalies and risk scores.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226623" y="7845935"/>
            <a:ext cx="2476500" cy="7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Flagg</a:t>
            </a: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 parameters passed to Claude API for evaluation.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955584" y="7845935"/>
            <a:ext cx="2476500" cy="7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eact dashboard updates with risk gauges, radar charts, and alerts.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442995" y="7283015"/>
            <a:ext cx="2509636" cy="30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7"/>
              </a:lnSpc>
              <a:spcBef>
                <a:spcPct val="0"/>
              </a:spcBef>
            </a:pP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ML S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210055" y="7234446"/>
            <a:ext cx="2509636" cy="30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7"/>
              </a:lnSpc>
              <a:spcBef>
                <a:spcPct val="0"/>
              </a:spcBef>
            </a:pP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AI A</a:t>
            </a: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nalysis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939016" y="7283015"/>
            <a:ext cx="2509636" cy="30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7"/>
              </a:lnSpc>
              <a:spcBef>
                <a:spcPct val="0"/>
              </a:spcBef>
            </a:pP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 Visua</a:t>
            </a: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lisation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42939" y="2616101"/>
            <a:ext cx="2476500" cy="7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al-time health assessment streamed back to the backend.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626371" y="2063651"/>
            <a:ext cx="2509636" cy="30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7"/>
              </a:lnSpc>
              <a:spcBef>
                <a:spcPct val="0"/>
              </a:spcBef>
            </a:pPr>
            <a:r>
              <a:rPr lang="en-US" b="true" sz="19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Str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1911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aming</a:t>
            </a:r>
          </a:p>
        </p:txBody>
      </p:sp>
      <p:sp>
        <p:nvSpPr>
          <p:cNvPr name="AutoShape 87" id="87"/>
          <p:cNvSpPr/>
          <p:nvPr/>
        </p:nvSpPr>
        <p:spPr>
          <a:xfrm>
            <a:off x="4475601" y="3499259"/>
            <a:ext cx="0" cy="715334"/>
          </a:xfrm>
          <a:prstGeom prst="line">
            <a:avLst/>
          </a:prstGeom>
          <a:ln cap="rnd" w="57150">
            <a:solidFill>
              <a:srgbClr val="E466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1936079" y="6433386"/>
            <a:ext cx="0" cy="534359"/>
          </a:xfrm>
          <a:prstGeom prst="line">
            <a:avLst/>
          </a:prstGeom>
          <a:ln cap="rnd" w="57150">
            <a:solidFill>
              <a:srgbClr val="9366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6697812" y="6433386"/>
            <a:ext cx="0" cy="534359"/>
          </a:xfrm>
          <a:prstGeom prst="line">
            <a:avLst/>
          </a:prstGeom>
          <a:ln cap="rnd" w="57150">
            <a:solidFill>
              <a:srgbClr val="E48C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11436298" y="6433386"/>
            <a:ext cx="0" cy="534359"/>
          </a:xfrm>
          <a:prstGeom prst="line">
            <a:avLst/>
          </a:prstGeom>
          <a:ln cap="rnd" w="57150">
            <a:solidFill>
              <a:srgbClr val="95CD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13892439" y="3642134"/>
            <a:ext cx="0" cy="534359"/>
          </a:xfrm>
          <a:prstGeom prst="line">
            <a:avLst/>
          </a:prstGeom>
          <a:ln cap="rnd" w="57150">
            <a:solidFill>
              <a:srgbClr val="51D4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16174784" y="6433386"/>
            <a:ext cx="0" cy="534359"/>
          </a:xfrm>
          <a:prstGeom prst="line">
            <a:avLst/>
          </a:prstGeom>
          <a:ln cap="rnd" w="57150">
            <a:solidFill>
              <a:srgbClr val="6686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3" id="93"/>
          <p:cNvSpPr txBox="true"/>
          <p:nvPr/>
        </p:nvSpPr>
        <p:spPr>
          <a:xfrm rot="0">
            <a:off x="726404" y="384603"/>
            <a:ext cx="7321868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</a:t>
            </a:r>
            <a:r>
              <a:rPr lang="en-US" b="true" sz="5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d-to-End Data Flow</a:t>
            </a:r>
          </a:p>
        </p:txBody>
      </p:sp>
      <p:sp>
        <p:nvSpPr>
          <p:cNvPr name="AutoShape 94" id="94"/>
          <p:cNvSpPr/>
          <p:nvPr/>
        </p:nvSpPr>
        <p:spPr>
          <a:xfrm>
            <a:off x="9208759" y="3632609"/>
            <a:ext cx="0" cy="534359"/>
          </a:xfrm>
          <a:prstGeom prst="line">
            <a:avLst/>
          </a:prstGeom>
          <a:ln cap="rnd" w="57150">
            <a:solidFill>
              <a:srgbClr val="FEDD4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0123" y="2395259"/>
            <a:ext cx="4634607" cy="845562"/>
            <a:chOff x="0" y="0"/>
            <a:chExt cx="29445010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45009" cy="5372100"/>
            </a:xfrm>
            <a:custGeom>
              <a:avLst/>
              <a:gdLst/>
              <a:ahLst/>
              <a:cxnLst/>
              <a:rect r="r" b="b" t="t" l="l"/>
              <a:pathLst>
                <a:path h="5372100" w="29445009">
                  <a:moveTo>
                    <a:pt x="27894341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7894341" y="5372100"/>
                  </a:lnTo>
                  <a:lnTo>
                    <a:pt x="29445009" y="2686050"/>
                  </a:lnTo>
                  <a:lnTo>
                    <a:pt x="27894341" y="0"/>
                  </a:lnTo>
                  <a:close/>
                </a:path>
              </a:pathLst>
            </a:custGeom>
            <a:solidFill>
              <a:srgbClr val="C2D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20879" y="2395259"/>
            <a:ext cx="4634607" cy="845562"/>
            <a:chOff x="0" y="0"/>
            <a:chExt cx="2944501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445009" cy="5372100"/>
            </a:xfrm>
            <a:custGeom>
              <a:avLst/>
              <a:gdLst/>
              <a:ahLst/>
              <a:cxnLst/>
              <a:rect r="r" b="b" t="t" l="l"/>
              <a:pathLst>
                <a:path h="5372100" w="29445009">
                  <a:moveTo>
                    <a:pt x="27894341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7894341" y="5372100"/>
                  </a:lnTo>
                  <a:lnTo>
                    <a:pt x="29445009" y="2686050"/>
                  </a:lnTo>
                  <a:lnTo>
                    <a:pt x="27894341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624693" y="2395259"/>
            <a:ext cx="4634607" cy="845562"/>
            <a:chOff x="0" y="0"/>
            <a:chExt cx="29445010" cy="5372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45009" cy="5372100"/>
            </a:xfrm>
            <a:custGeom>
              <a:avLst/>
              <a:gdLst/>
              <a:ahLst/>
              <a:cxnLst/>
              <a:rect r="r" b="b" t="t" l="l"/>
              <a:pathLst>
                <a:path h="5372100" w="29445009">
                  <a:moveTo>
                    <a:pt x="27894341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7894341" y="5372100"/>
                  </a:lnTo>
                  <a:lnTo>
                    <a:pt x="29445009" y="2686050"/>
                  </a:lnTo>
                  <a:lnTo>
                    <a:pt x="27894341" y="0"/>
                  </a:lnTo>
                  <a:close/>
                </a:path>
              </a:pathLst>
            </a:custGeom>
            <a:solidFill>
              <a:srgbClr val="86C7ED"/>
            </a:solidFill>
          </p:spPr>
        </p:sp>
      </p:grpSp>
      <p:sp>
        <p:nvSpPr>
          <p:cNvPr name="AutoShape 8" id="8"/>
          <p:cNvSpPr/>
          <p:nvPr/>
        </p:nvSpPr>
        <p:spPr>
          <a:xfrm rot="0">
            <a:off x="4659327" y="4517209"/>
            <a:ext cx="12357588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4659327" y="5805282"/>
            <a:ext cx="12357588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4659327" y="7097752"/>
            <a:ext cx="12357588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4659327" y="8390221"/>
            <a:ext cx="12357588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020038" y="3240821"/>
            <a:ext cx="1190696" cy="1125749"/>
          </a:xfrm>
          <a:custGeom>
            <a:avLst/>
            <a:gdLst/>
            <a:ahLst/>
            <a:cxnLst/>
            <a:rect r="r" b="b" t="t" l="l"/>
            <a:pathLst>
              <a:path h="1125749" w="1190696">
                <a:moveTo>
                  <a:pt x="0" y="0"/>
                </a:moveTo>
                <a:lnTo>
                  <a:pt x="1190696" y="0"/>
                </a:lnTo>
                <a:lnTo>
                  <a:pt x="1190696" y="1125749"/>
                </a:lnTo>
                <a:lnTo>
                  <a:pt x="0" y="112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02802" y="4630520"/>
            <a:ext cx="1437965" cy="1006575"/>
          </a:xfrm>
          <a:custGeom>
            <a:avLst/>
            <a:gdLst/>
            <a:ahLst/>
            <a:cxnLst/>
            <a:rect r="r" b="b" t="t" l="l"/>
            <a:pathLst>
              <a:path h="1006575" w="1437965">
                <a:moveTo>
                  <a:pt x="0" y="0"/>
                </a:moveTo>
                <a:lnTo>
                  <a:pt x="1437965" y="0"/>
                </a:lnTo>
                <a:lnTo>
                  <a:pt x="1437965" y="1006576"/>
                </a:lnTo>
                <a:lnTo>
                  <a:pt x="0" y="1006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13645" y="5886245"/>
            <a:ext cx="1003482" cy="1082186"/>
          </a:xfrm>
          <a:custGeom>
            <a:avLst/>
            <a:gdLst/>
            <a:ahLst/>
            <a:cxnLst/>
            <a:rect r="r" b="b" t="t" l="l"/>
            <a:pathLst>
              <a:path h="1082186" w="1003482">
                <a:moveTo>
                  <a:pt x="0" y="0"/>
                </a:moveTo>
                <a:lnTo>
                  <a:pt x="1003482" y="0"/>
                </a:lnTo>
                <a:lnTo>
                  <a:pt x="1003482" y="1082186"/>
                </a:lnTo>
                <a:lnTo>
                  <a:pt x="0" y="10821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13645" y="7249745"/>
            <a:ext cx="1016279" cy="1044773"/>
          </a:xfrm>
          <a:custGeom>
            <a:avLst/>
            <a:gdLst/>
            <a:ahLst/>
            <a:cxnLst/>
            <a:rect r="r" b="b" t="t" l="l"/>
            <a:pathLst>
              <a:path h="1044773" w="1016279">
                <a:moveTo>
                  <a:pt x="0" y="0"/>
                </a:moveTo>
                <a:lnTo>
                  <a:pt x="1016279" y="0"/>
                </a:lnTo>
                <a:lnTo>
                  <a:pt x="1016279" y="1044773"/>
                </a:lnTo>
                <a:lnTo>
                  <a:pt x="0" y="10447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811961" y="3569555"/>
            <a:ext cx="328765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6" indent="-205103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U</a:t>
            </a:r>
            <a:r>
              <a:rPr lang="en-US" sz="1899" spc="9" u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rban Households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11961" y="4848103"/>
            <a:ext cx="328765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Ru</a:t>
            </a:r>
            <a:r>
              <a:rPr lang="en-US" sz="1799" spc="8" u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ral Communities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11961" y="6140572"/>
            <a:ext cx="328765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Munic</a:t>
            </a:r>
            <a:r>
              <a:rPr lang="en-US" sz="1799" spc="8" u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ipal Authorities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11961" y="7433041"/>
            <a:ext cx="328765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Heal</a:t>
            </a:r>
            <a:r>
              <a:rPr lang="en-US" sz="1799" spc="8" u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39949" y="3560030"/>
            <a:ext cx="328765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No visibility into tap safety.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39949" y="4848103"/>
            <a:ext cx="328765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No lab infrastructure.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39949" y="6140572"/>
            <a:ext cx="328765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Manual, delayed reporting.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39949" y="7433041"/>
            <a:ext cx="328765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Reactive outbreak response.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67937" y="3569555"/>
            <a:ext cx="328765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6" indent="-205103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Instant </a:t>
            </a:r>
            <a:r>
              <a:rPr lang="en-US" sz="1899" spc="9" u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risk scoring and health guidance.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67937" y="4848103"/>
            <a:ext cx="3287656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</a:t>
            </a:r>
            <a:r>
              <a:rPr lang="en-US" sz="1799" spc="8" u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ree software-based monitoring.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67937" y="6140572"/>
            <a:ext cx="3287656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Automa</a:t>
            </a:r>
            <a:r>
              <a:rPr lang="en-US" sz="1799" spc="8" u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ted alerts and trend analysis.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67937" y="7433041"/>
            <a:ext cx="3287656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8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</a:t>
            </a:r>
            <a:r>
              <a:rPr lang="en-US" sz="1799" spc="8" u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redictive early-warning systems.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1028700"/>
            <a:ext cx="1323152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9"/>
              </a:lnSpc>
            </a:pPr>
            <a:r>
              <a:rPr lang="en-US" b="true" sz="5399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DELIVERING BROAD STAKEHOLDER VALUE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11961" y="2622883"/>
            <a:ext cx="344591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Stakeholder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39949" y="2622883"/>
            <a:ext cx="341954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Curr</a:t>
            </a:r>
            <a:r>
              <a:rPr lang="en-US" b="true" sz="2600" u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ent Challenge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67937" y="2622883"/>
            <a:ext cx="377562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</a:t>
            </a:r>
            <a:r>
              <a:rPr lang="en-US" b="true" sz="2600" u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oposed Benefit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94906" y="429611"/>
            <a:ext cx="10698188" cy="9427779"/>
          </a:xfrm>
          <a:custGeom>
            <a:avLst/>
            <a:gdLst/>
            <a:ahLst/>
            <a:cxnLst/>
            <a:rect r="r" b="b" t="t" l="l"/>
            <a:pathLst>
              <a:path h="9427779" w="10698188">
                <a:moveTo>
                  <a:pt x="0" y="0"/>
                </a:moveTo>
                <a:lnTo>
                  <a:pt x="10698188" y="0"/>
                </a:lnTo>
                <a:lnTo>
                  <a:pt x="10698188" y="9427778"/>
                </a:lnTo>
                <a:lnTo>
                  <a:pt x="0" y="942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02205" y="2187713"/>
            <a:ext cx="11683589" cy="5911575"/>
            <a:chOff x="0" y="0"/>
            <a:chExt cx="3497846" cy="1769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97846" cy="1769814"/>
            </a:xfrm>
            <a:custGeom>
              <a:avLst/>
              <a:gdLst/>
              <a:ahLst/>
              <a:cxnLst/>
              <a:rect r="r" b="b" t="t" l="l"/>
              <a:pathLst>
                <a:path h="1769814" w="3497846">
                  <a:moveTo>
                    <a:pt x="0" y="0"/>
                  </a:moveTo>
                  <a:lnTo>
                    <a:pt x="0" y="1769814"/>
                  </a:lnTo>
                  <a:lnTo>
                    <a:pt x="3497846" y="1769814"/>
                  </a:lnTo>
                  <a:lnTo>
                    <a:pt x="3497846" y="0"/>
                  </a:lnTo>
                  <a:lnTo>
                    <a:pt x="0" y="0"/>
                  </a:lnTo>
                  <a:close/>
                  <a:moveTo>
                    <a:pt x="3436886" y="1708854"/>
                  </a:moveTo>
                  <a:lnTo>
                    <a:pt x="59690" y="1708854"/>
                  </a:lnTo>
                  <a:lnTo>
                    <a:pt x="59690" y="59690"/>
                  </a:lnTo>
                  <a:lnTo>
                    <a:pt x="3436886" y="59690"/>
                  </a:lnTo>
                  <a:lnTo>
                    <a:pt x="3436886" y="170885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046960" y="4448175"/>
            <a:ext cx="101940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 spc="288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DAHDTt4NigA</dc:identifier>
  <dcterms:modified xsi:type="dcterms:W3CDTF">2011-08-01T06:04:30Z</dcterms:modified>
  <cp:revision>1</cp:revision>
  <dc:title>Water Quality Anomaly Detection &amp; Health Risk Predictor</dc:title>
</cp:coreProperties>
</file>